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572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Hospital Operations &amp; Billing Intelligence</a:t>
            </a:r>
            <a:endParaRPr lang="en-US" sz="1700" dirty="0"/>
          </a:p>
          <a:p>
            <a:pPr indent="0" marL="0">
              <a:buNone/>
            </a:pPr>
            <a:r>
              <a:rPr lang="en-US" sz="1100" dirty="0">
                <a:solidFill>
                  <a:srgbClr val="BFE9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 1: Executive Overview | May 2019 to May 2024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937760" y="22860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937760" y="228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126480" y="22860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126480" y="228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Billing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0" y="22860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0" y="228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732520" y="228600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732520" y="2286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⟲ Reset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738360" y="228600"/>
            <a:ext cx="8229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738360" y="2286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ⓘ Info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652760" y="22860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652760" y="2286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☰ Filters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8961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A8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Showing: All years | All conditions | All insurers | All admission types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1216152"/>
            <a:ext cx="265176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B8C4D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121615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Year  ▼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46120" y="1216152"/>
            <a:ext cx="265176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B8C4D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246120" y="121615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Medical Condition  ▼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35040" y="1216152"/>
            <a:ext cx="265176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B8C4D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035040" y="121615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Insurance Provider  ▼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823960" y="1216152"/>
            <a:ext cx="265176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B8C4D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823960" y="121615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Admission Type  ▼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1664208"/>
            <a:ext cx="17830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13A89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4360" y="1700784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Admissions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594360" y="19202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50,000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594360" y="228600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A8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▁▂▃▂▄▃▅ trend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350008" y="1664208"/>
            <a:ext cx="17830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13A89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487168" y="1700784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Billing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2487168" y="19202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1,277.8M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2487168" y="228600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A8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▁▃▂▄▃▅▄ trend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242816" y="1664208"/>
            <a:ext cx="17830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13A89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379976" y="1700784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Billing / Admission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4379976" y="19202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25,556</a:t>
            </a:r>
            <a:endParaRPr lang="en-US" sz="2000" dirty="0"/>
          </a:p>
        </p:txBody>
      </p:sp>
      <p:sp>
        <p:nvSpPr>
          <p:cNvPr id="36" name="Text 34"/>
          <p:cNvSpPr txBox="1"/>
          <p:nvPr/>
        </p:nvSpPr>
        <p:spPr>
          <a:xfrm>
            <a:off x="4379976" y="228600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A8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▃▃▄▃▃▄▃ trend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135624" y="1664208"/>
            <a:ext cx="17830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13A89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272784" y="1700784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Length of Stay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6272784" y="19202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15.5 days</a:t>
            </a:r>
            <a:endParaRPr lang="en-US" sz="2000" dirty="0"/>
          </a:p>
        </p:txBody>
      </p:sp>
      <p:sp>
        <p:nvSpPr>
          <p:cNvPr id="40" name="Text 38"/>
          <p:cNvSpPr txBox="1"/>
          <p:nvPr/>
        </p:nvSpPr>
        <p:spPr>
          <a:xfrm>
            <a:off x="6272784" y="228600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A8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▃▄▃▃▄▃▃ trend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8028432" y="1664208"/>
            <a:ext cx="17830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13A89E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165592" y="1700784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Emergency Admission %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8165592" y="19202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32.8%</a:t>
            </a:r>
            <a:endParaRPr lang="en-US" sz="2000" dirty="0"/>
          </a:p>
        </p:txBody>
      </p:sp>
      <p:sp>
        <p:nvSpPr>
          <p:cNvPr id="44" name="Text 42"/>
          <p:cNvSpPr txBox="1"/>
          <p:nvPr/>
        </p:nvSpPr>
        <p:spPr>
          <a:xfrm>
            <a:off x="8165592" y="228600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A8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▃▃▄▃▄▃▃ trend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9921240" y="1664208"/>
            <a:ext cx="17830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13A89E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0058400" y="1700784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Abnormal Test Result %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10058400" y="19202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33.5%</a:t>
            </a:r>
            <a:endParaRPr lang="en-US" sz="2000" dirty="0"/>
          </a:p>
        </p:txBody>
      </p:sp>
      <p:sp>
        <p:nvSpPr>
          <p:cNvPr id="48" name="Text 46"/>
          <p:cNvSpPr txBox="1"/>
          <p:nvPr/>
        </p:nvSpPr>
        <p:spPr>
          <a:xfrm>
            <a:off x="10058400" y="228600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A8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▄▃▃▄▃▃▄ trend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57200" y="2670048"/>
            <a:ext cx="6858000" cy="3547872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40080" y="2761488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A8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Line chart: Monthly trend</a:t>
            </a:r>
            <a:endParaRPr lang="en-US" sz="1250" dirty="0"/>
          </a:p>
        </p:txBody>
      </p:sp>
      <p:sp>
        <p:nvSpPr>
          <p:cNvPr id="51" name="Text 49"/>
          <p:cNvSpPr txBox="1"/>
          <p:nvPr/>
        </p:nvSpPr>
        <p:spPr>
          <a:xfrm>
            <a:off x="640080" y="3081528"/>
            <a:ext cx="6492240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Axis: Month. Drill down Year &gt; Quarter &gt; Month.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Purpose: show trend and seasonality.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the measure with the buttons above (field parameter).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3108960" y="274320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3108960" y="27432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Admissions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389120" y="274320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4389120" y="27432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Billing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5486400" y="274320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5486400" y="27432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Stay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7452360" y="2670048"/>
            <a:ext cx="427939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7635240" y="276148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A8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Donut: Admission Type mix</a:t>
            </a:r>
            <a:endParaRPr lang="en-US" sz="1250" dirty="0"/>
          </a:p>
        </p:txBody>
      </p:sp>
      <p:sp>
        <p:nvSpPr>
          <p:cNvPr id="60" name="Text 58"/>
          <p:cNvSpPr txBox="1"/>
          <p:nvPr/>
        </p:nvSpPr>
        <p:spPr>
          <a:xfrm>
            <a:off x="7635240" y="3081528"/>
            <a:ext cx="39136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Elective, Urgent, Emergency share.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Click a slice to cross-filter the page.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7452360" y="4773168"/>
            <a:ext cx="4279392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9050">
            <a:solidFill>
              <a:srgbClr val="13A89E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7635240" y="486460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A8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takeaway (smart narrative)</a:t>
            </a:r>
            <a:endParaRPr lang="en-US" sz="1250" dirty="0"/>
          </a:p>
        </p:txBody>
      </p:sp>
      <p:sp>
        <p:nvSpPr>
          <p:cNvPr id="63" name="Text 61"/>
          <p:cNvSpPr txBox="1"/>
          <p:nvPr/>
        </p:nvSpPr>
        <p:spPr>
          <a:xfrm>
            <a:off x="7635240" y="5184648"/>
            <a:ext cx="391363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 text: "Emergency admissions are 32.8% of all admissions; average stay is 15.5 days."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457200" y="6309360"/>
            <a:ext cx="11274552" cy="384048"/>
          </a:xfrm>
          <a:prstGeom prst="roundRect">
            <a:avLst>
              <a:gd name="adj" fmla="val 14286"/>
            </a:avLst>
          </a:prstGeom>
          <a:solidFill>
            <a:srgbClr val="FFF4CC"/>
          </a:solidFill>
          <a:ln w="12700">
            <a:solidFill>
              <a:srgbClr val="E8D48A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594360" y="630936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4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Buttons: page navigator, Reset (bookmark), Info (definitions pop-up), Filters (show/hide panel). Hover on any visual opens a tooltip page. 2019 and 2024 are partial years.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572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Hospital Operations &amp; Billing Intelligence</a:t>
            </a:r>
            <a:endParaRPr lang="en-US" sz="1700" dirty="0"/>
          </a:p>
          <a:p>
            <a:pPr indent="0" marL="0">
              <a:buNone/>
            </a:pPr>
            <a:r>
              <a:rPr lang="en-US" sz="1100" dirty="0">
                <a:solidFill>
                  <a:srgbClr val="BFE9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 2: Billing &amp; Insurance Analysis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937760" y="22860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937760" y="228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126480" y="22860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126480" y="228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Billing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0" y="22860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0" y="228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732520" y="228600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732520" y="2286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⟲ Reset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738360" y="228600"/>
            <a:ext cx="8229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738360" y="2286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ⓘ Info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652760" y="22860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652760" y="2286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☰ Filters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8961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A8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Showing: All years | All conditions | All insurers | All admission types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1216152"/>
            <a:ext cx="265176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B8C4D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121615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Year  ▼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46120" y="1216152"/>
            <a:ext cx="265176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B8C4D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246120" y="121615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Medical Condition  ▼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35040" y="1216152"/>
            <a:ext cx="265176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B8C4D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035040" y="121615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Insurance Provider  ▼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823960" y="1216152"/>
            <a:ext cx="265176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B8C4D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823960" y="121615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Admission Type  ▼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1664208"/>
            <a:ext cx="3657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13A89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4360" y="170078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Billing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594360" y="1920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1,277.8M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594360" y="228600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A8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▁▃▂▄▃▅▄ trend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251960" y="1664208"/>
            <a:ext cx="3657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13A89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389120" y="170078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Billing / Admission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4389120" y="1920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25,556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4389120" y="228600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A8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▃▃▄▃▃▄▃ trend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8046720" y="1664208"/>
            <a:ext cx="3657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183880" y="170078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Negative Billing Count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8183880" y="1920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96</a:t>
            </a:r>
            <a:endParaRPr lang="en-US" sz="2000" dirty="0"/>
          </a:p>
        </p:txBody>
      </p:sp>
      <p:sp>
        <p:nvSpPr>
          <p:cNvPr id="36" name="Text 34"/>
          <p:cNvSpPr txBox="1"/>
          <p:nvPr/>
        </p:nvSpPr>
        <p:spPr>
          <a:xfrm>
            <a:off x="8183880" y="228600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A8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flagged, not deleted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57200" y="2670048"/>
            <a:ext cx="55778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40080" y="276148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A8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Bar: Billing by Insurance Provider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640080" y="3081528"/>
            <a:ext cx="5212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Fields: Insurance Provider, selected measure.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023360" y="274320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023360" y="2743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983480" y="274320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983480" y="2743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Average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153912" y="2670048"/>
            <a:ext cx="55778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336792" y="276148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A8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Bar: Avg Billing by Medical Condition</a:t>
            </a:r>
            <a:endParaRPr lang="en-US" sz="1250" dirty="0"/>
          </a:p>
        </p:txBody>
      </p:sp>
      <p:sp>
        <p:nvSpPr>
          <p:cNvPr id="46" name="Text 44"/>
          <p:cNvSpPr txBox="1"/>
          <p:nvPr/>
        </p:nvSpPr>
        <p:spPr>
          <a:xfrm>
            <a:off x="6336792" y="3081528"/>
            <a:ext cx="5212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Fields: Medical Condition, Avg Billing. Data bars on values.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57200" y="4498848"/>
            <a:ext cx="5577840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40080" y="459028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A8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Matrix: Insurance Provider x Admission Type</a:t>
            </a:r>
            <a:endParaRPr lang="en-US" sz="1250" dirty="0"/>
          </a:p>
        </p:txBody>
      </p:sp>
      <p:sp>
        <p:nvSpPr>
          <p:cNvPr id="49" name="Text 47"/>
          <p:cNvSpPr txBox="1"/>
          <p:nvPr/>
        </p:nvSpPr>
        <p:spPr>
          <a:xfrm>
            <a:off x="640080" y="4910328"/>
            <a:ext cx="521208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Values: Avg Billing. Conditional formatting colour scale to spot gaps.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153912" y="4498848"/>
            <a:ext cx="5577840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336792" y="459028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Negative billing: refunds and adjustments</a:t>
            </a:r>
            <a:endParaRPr lang="en-US" sz="1250" dirty="0"/>
          </a:p>
        </p:txBody>
      </p:sp>
      <p:sp>
        <p:nvSpPr>
          <p:cNvPr id="52" name="Text 50"/>
          <p:cNvSpPr txBox="1"/>
          <p:nvPr/>
        </p:nvSpPr>
        <p:spPr>
          <a:xfrm>
            <a:off x="6336792" y="4910328"/>
            <a:ext cx="521208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 of Billing Status = Negative. Coral highlight.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9692640" y="5760720"/>
            <a:ext cx="192024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9692640" y="57607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Drill through ➜ Details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57200" y="6309360"/>
            <a:ext cx="11274552" cy="384048"/>
          </a:xfrm>
          <a:prstGeom prst="roundRect">
            <a:avLst>
              <a:gd name="adj" fmla="val 14286"/>
            </a:avLst>
          </a:prstGeom>
          <a:solidFill>
            <a:srgbClr val="FFF4CC"/>
          </a:solidFill>
          <a:ln w="12700">
            <a:solidFill>
              <a:srgbClr val="E8D48A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94360" y="630936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4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Interactions: click bar to cross-filter, right-click a condition to drill through to the admission detail page, Total/Average toggle changes the measure.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572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Hospital Operations &amp; Billing Intelligence</a:t>
            </a:r>
            <a:endParaRPr lang="en-US" sz="1700" dirty="0"/>
          </a:p>
          <a:p>
            <a:pPr indent="0" marL="0">
              <a:buNone/>
            </a:pPr>
            <a:r>
              <a:rPr lang="en-US" sz="1100" dirty="0">
                <a:solidFill>
                  <a:srgbClr val="BFE9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 3: Patient &amp; Operations Insights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937760" y="22860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937760" y="228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126480" y="22860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126480" y="228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Billing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0" y="22860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0" y="228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732520" y="228600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732520" y="2286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⟲ Reset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738360" y="228600"/>
            <a:ext cx="8229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738360" y="2286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ⓘ Info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652760" y="22860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652760" y="2286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☰ Filters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8961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A8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Showing: All years | All conditions | All insurers | All admission types | All age groups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1216152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B8C4D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121615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Year  ▼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697480" y="1216152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B8C4D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697480" y="121615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Medical Condition  ▼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37760" y="1216152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B8C4D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937760" y="121615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Insurance Provider  ▼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178040" y="1216152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B8C4D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78040" y="121615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Admission Type  ▼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418320" y="1216152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B8C4D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418320" y="121615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 Group  ▼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1664208"/>
            <a:ext cx="3657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13A89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94360" y="170078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Length of Stay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594360" y="1920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15.5 days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594360" y="228600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A8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▃▄▃▃▄▃▃ trend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251960" y="1664208"/>
            <a:ext cx="3657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13A89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389120" y="170078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Emergency Admission %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389120" y="1920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32.8%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4389120" y="228600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A8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▃▃▄▃▄▃▃ trend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046720" y="1664208"/>
            <a:ext cx="3657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13A89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183880" y="170078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Abnormal Test Result %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8183880" y="1920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33.5%</a:t>
            </a:r>
            <a:endParaRPr lang="en-US" sz="2000" dirty="0"/>
          </a:p>
        </p:txBody>
      </p:sp>
      <p:sp>
        <p:nvSpPr>
          <p:cNvPr id="38" name="Text 36"/>
          <p:cNvSpPr txBox="1"/>
          <p:nvPr/>
        </p:nvSpPr>
        <p:spPr>
          <a:xfrm>
            <a:off x="8183880" y="228600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A8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▄▃▃▄▃▃▄ trend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57200" y="2670048"/>
            <a:ext cx="36576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40080" y="27614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A8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Column: Stay by Age Group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640080" y="3081528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18-34, 35-49, 50-64, 65+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206240" y="2670048"/>
            <a:ext cx="36576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389120" y="27614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A8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Bar: Stay by Condition</a:t>
            </a:r>
            <a:endParaRPr lang="en-US" sz="1250" dirty="0"/>
          </a:p>
        </p:txBody>
      </p:sp>
      <p:sp>
        <p:nvSpPr>
          <p:cNvPr id="44" name="Text 42"/>
          <p:cNvSpPr txBox="1"/>
          <p:nvPr/>
        </p:nvSpPr>
        <p:spPr>
          <a:xfrm>
            <a:off x="4389120" y="3081528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Length of Stay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955280" y="2670048"/>
            <a:ext cx="3776472" cy="3547872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9050">
            <a:solidFill>
              <a:srgbClr val="13A89E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138160" y="2761488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A8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What-if: shorter stays</a:t>
            </a:r>
            <a:endParaRPr lang="en-US" sz="1250" dirty="0"/>
          </a:p>
        </p:txBody>
      </p:sp>
      <p:sp>
        <p:nvSpPr>
          <p:cNvPr id="47" name="Text 45"/>
          <p:cNvSpPr txBox="1"/>
          <p:nvPr/>
        </p:nvSpPr>
        <p:spPr>
          <a:xfrm>
            <a:off x="8138160" y="3081528"/>
            <a:ext cx="3410712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Slider: reduce average stay by  [ 0 ━●━ 5 ] days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Sample (1 day): about 50,000 bed-days freed, about 82M billing equivalent (assumes billing is proportional to days).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Shows where savings can come from.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57200" y="4498848"/>
            <a:ext cx="3657600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40080" y="45902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A8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Donut: Test Results</a:t>
            </a:r>
            <a:endParaRPr lang="en-US" sz="1250" dirty="0"/>
          </a:p>
        </p:txBody>
      </p:sp>
      <p:sp>
        <p:nvSpPr>
          <p:cNvPr id="50" name="Text 48"/>
          <p:cNvSpPr txBox="1"/>
          <p:nvPr/>
        </p:nvSpPr>
        <p:spPr>
          <a:xfrm>
            <a:off x="640080" y="4910328"/>
            <a:ext cx="329184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Normal, Abnormal, Inconclusive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206240" y="4498848"/>
            <a:ext cx="3657600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4389120" y="45902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A8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Column: Stay distribution</a:t>
            </a:r>
            <a:endParaRPr lang="en-US" sz="1250" dirty="0"/>
          </a:p>
        </p:txBody>
      </p:sp>
      <p:sp>
        <p:nvSpPr>
          <p:cNvPr id="53" name="Text 51"/>
          <p:cNvSpPr txBox="1"/>
          <p:nvPr/>
        </p:nvSpPr>
        <p:spPr>
          <a:xfrm>
            <a:off x="4389120" y="4910328"/>
            <a:ext cx="329184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Length of Stay(Day) 1 to 30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457200" y="6309360"/>
            <a:ext cx="11274552" cy="384048"/>
          </a:xfrm>
          <a:prstGeom prst="roundRect">
            <a:avLst>
              <a:gd name="adj" fmla="val 14286"/>
            </a:avLst>
          </a:prstGeom>
          <a:solidFill>
            <a:srgbClr val="FFF4CC"/>
          </a:solidFill>
          <a:ln w="12700">
            <a:solidFill>
              <a:srgbClr val="E8D48A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94360" y="630936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4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Length of Stay = Discharge Date minus Admission Date (days). What-if parameter adds a scenario measure. Tooltip page shows admissions, billing and average stay.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572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Hospital Operations &amp; Billing Intelligence</a:t>
            </a:r>
            <a:endParaRPr lang="en-US" sz="1700" dirty="0"/>
          </a:p>
          <a:p>
            <a:pPr indent="0" marL="0">
              <a:buNone/>
            </a:pPr>
            <a:r>
              <a:rPr lang="en-US" sz="1100" dirty="0">
                <a:solidFill>
                  <a:srgbClr val="BFE9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Draft data model: star schema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057400" y="1508760"/>
            <a:ext cx="4023360" cy="2103120"/>
          </a:xfrm>
          <a:prstGeom prst="line">
            <a:avLst/>
          </a:prstGeom>
          <a:noFill/>
          <a:ln w="19050">
            <a:solidFill>
              <a:srgbClr val="8DA2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80760" y="1508760"/>
            <a:ext cx="0" cy="2103120"/>
          </a:xfrm>
          <a:prstGeom prst="line">
            <a:avLst/>
          </a:prstGeom>
          <a:noFill/>
          <a:ln w="19050">
            <a:solidFill>
              <a:srgbClr val="8DA2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6080760" y="1508760"/>
            <a:ext cx="4023360" cy="2103120"/>
          </a:xfrm>
          <a:prstGeom prst="line">
            <a:avLst/>
          </a:prstGeom>
          <a:noFill/>
          <a:ln w="19050">
            <a:solidFill>
              <a:srgbClr val="8DA2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91640" y="3611880"/>
            <a:ext cx="4389120" cy="0"/>
          </a:xfrm>
          <a:prstGeom prst="line">
            <a:avLst/>
          </a:prstGeom>
          <a:noFill/>
          <a:ln w="19050">
            <a:solidFill>
              <a:srgbClr val="8DA2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80760" y="3611880"/>
            <a:ext cx="4389120" cy="0"/>
          </a:xfrm>
          <a:prstGeom prst="line">
            <a:avLst/>
          </a:prstGeom>
          <a:noFill/>
          <a:ln w="19050">
            <a:solidFill>
              <a:srgbClr val="8DA2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3154680" y="3611880"/>
            <a:ext cx="2926080" cy="1828800"/>
          </a:xfrm>
          <a:prstGeom prst="line">
            <a:avLst/>
          </a:prstGeom>
          <a:noFill/>
          <a:ln w="19050">
            <a:solidFill>
              <a:srgbClr val="8DA2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80760" y="3611880"/>
            <a:ext cx="2926080" cy="1828800"/>
          </a:xfrm>
          <a:prstGeom prst="line">
            <a:avLst/>
          </a:prstGeom>
          <a:noFill/>
          <a:ln w="19050">
            <a:solidFill>
              <a:srgbClr val="8DA2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109728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13A89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10972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DimDate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Date, Year, Quarter, Month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37760" y="109728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13A89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0" y="10972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DimCondition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Medical Condition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61120" y="109728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13A89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052560" y="10972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DimInsurance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Insurance Provider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20040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13A89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32004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DimAdmissionType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Admission Type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326880" y="320040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13A89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418320" y="32004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DimMedication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Medication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011680" y="502920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13A89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103120" y="50292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DimAgeGroup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 Group + sort order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863840" y="502920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13A89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955280" y="50292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DimTestResult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Results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292608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46320" y="292608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FactAdmissions</a:t>
            </a:r>
            <a:endParaRPr lang="en-US" sz="15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50,000 rows. One row = one admission</a:t>
            </a:r>
            <a:endParaRPr lang="en-US" sz="15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Billing Amount, Length of Stay(Day), Age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57200" y="6309360"/>
            <a:ext cx="11274552" cy="384048"/>
          </a:xfrm>
          <a:prstGeom prst="roundRect">
            <a:avLst>
              <a:gd name="adj" fmla="val 14286"/>
            </a:avLst>
          </a:prstGeom>
          <a:solidFill>
            <a:srgbClr val="FFF4CC"/>
          </a:solidFill>
          <a:ln w="12700">
            <a:solidFill>
              <a:srgbClr val="E8D48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94360" y="630936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4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Dim (one) to FactAdmissions (many), single direction. DimDate also joins Discharge Date as an inactive relationship. Doctor and Hospital stay hidden in the fact.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572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Hospital Operations &amp; Billing Intelligence</a:t>
            </a:r>
            <a:endParaRPr lang="en-US" sz="1700" dirty="0"/>
          </a:p>
          <a:p>
            <a:pPr indent="0" marL="0">
              <a:buNone/>
            </a:pPr>
            <a:r>
              <a:rPr lang="en-US" sz="1100" dirty="0">
                <a:solidFill>
                  <a:srgbClr val="BFE9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 features and how Power BI builds them</a:t>
            </a:r>
            <a:endParaRPr lang="en-US" sz="1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11274552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2194560"/>
                <a:gridCol w="4507992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Feature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Where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How in Power BI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Page navigator buttons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All pages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Insert &gt; Buttons &gt; Navigator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Reset filters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Header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Bookmark "Reset" + button action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Info pop-up (definitions)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Header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Bookmark + selection pane overlay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Show / hide filter panel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Header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Bookmarks on slicer group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Metric switch (Admissions / Billing / Avg Stay)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Page 1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Field parameter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Total / Average toggle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Page 2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Field parameter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Drill down Year &gt; Quarter &gt; Month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Page 1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Date hierarchy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Drill through to details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Page 2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Drill-through page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Tooltip page on hover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Pages 1 to 3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Report page tooltip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Dynamic title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All pages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DAX with SELECTEDVALUE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What-if slider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Page 3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What-if parameter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Conditional formatting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Page 2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Colour scale, data bars, coral alerts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Key takeaway text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Page 1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Smart narrative visual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PDF export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Day 8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File &gt; Export &gt; PDF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2026-10-20T04:19:27Z</dcterms:created>
  <dcterms:modified xsi:type="dcterms:W3CDTF">2026-10-20T04:19:27Z</dcterms:modified>
</cp:coreProperties>
</file>